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Inter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Petrona 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300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1444303"/>
            <a:ext cx="3469556" cy="215354"/>
          </a:xfrm>
          <a:prstGeom prst="roundRect">
            <a:avLst>
              <a:gd name="adj" fmla="val 22119"/>
            </a:avLst>
          </a:prstGeom>
          <a:solidFill>
            <a:srgbClr val="CCEEFF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486793"/>
            <a:ext cx="375664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INTERNSHIP PROJECT · SUMMER 2026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716360"/>
            <a:ext cx="4722763" cy="930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Employee Attrition Prediction System</a:t>
            </a:r>
            <a:endParaRPr lang="en-US" sz="2900" dirty="0"/>
          </a:p>
        </p:txBody>
      </p:sp>
      <p:sp>
        <p:nvSpPr>
          <p:cNvPr id="6" name="Text 3"/>
          <p:cNvSpPr/>
          <p:nvPr/>
        </p:nvSpPr>
        <p:spPr>
          <a:xfrm>
            <a:off x="496119" y="2859286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Aditya Verma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B.Tech CSE (AI &amp; ML)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United College of Engineering &amp; Research, Prayagraj · AKTU, Lucknow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Internship at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IIHMF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MNNIT Prayagraj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87809"/>
            <a:ext cx="104328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730300"/>
            <a:ext cx="133037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59867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821" y="2332286"/>
            <a:ext cx="1428750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4988" y="1779389"/>
            <a:ext cx="517758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is Employee Attrition?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3474988" y="2153692"/>
            <a:ext cx="517758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voluntary or involuntary departure of employees from an organization — a costly challenge impacting productivity and morale.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474988" y="2749079"/>
            <a:ext cx="5177582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Why Predict It?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474988" y="3123381"/>
            <a:ext cx="5177582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Replacement costs can exceed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1.5× annual salary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Disrupts team dynamics and project continuity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enables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proactive, data-driven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retention strategies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analytics transforms reactive hiring into </a:t>
            </a: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workforce planning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85143"/>
            <a:ext cx="1508075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827633"/>
            <a:ext cx="17951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OBJECTIVES &amp; DATASET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57201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Goals &amp; Data Source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96119" y="1876723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Project Objectives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2275805"/>
            <a:ext cx="212601" cy="2126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6816" y="2268736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 employee attrition using supervised ML models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012951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56816" y="3005882"/>
            <a:ext cx="344224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Logistic Regression, Random Forest, and XGBoost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3750097"/>
            <a:ext cx="212601" cy="21260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56816" y="3743027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a real-time prediction system via Streamlit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749701" y="1876723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IBM HR Analytics Dataset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4749701" y="2268736"/>
            <a:ext cx="1880592" cy="894159"/>
          </a:xfrm>
          <a:prstGeom prst="roundRect">
            <a:avLst>
              <a:gd name="adj" fmla="val 665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896222" y="2415257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1,470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4896222" y="2789560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Employee records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772052" y="2268736"/>
            <a:ext cx="1880592" cy="894159"/>
          </a:xfrm>
          <a:prstGeom prst="roundRect">
            <a:avLst>
              <a:gd name="adj" fmla="val 665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6918573" y="2415257"/>
            <a:ext cx="1587550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35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918573" y="2789560"/>
            <a:ext cx="15875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49701" y="3304654"/>
            <a:ext cx="3902943" cy="894159"/>
          </a:xfrm>
          <a:prstGeom prst="roundRect">
            <a:avLst>
              <a:gd name="adj" fmla="val 6659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96222" y="3451175"/>
            <a:ext cx="3609901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Binary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4896222" y="3825478"/>
            <a:ext cx="36099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Target: Attrition (Yes/No)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32656"/>
            <a:ext cx="1887289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575146"/>
            <a:ext cx="21743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04714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Understanding the Data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641946"/>
            <a:ext cx="3902943" cy="28093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49701" y="1624236"/>
            <a:ext cx="3902943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Observations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749701" y="1998538"/>
            <a:ext cx="3902943" cy="2190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Class Imbalance: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~16% attrition rate — minority class requires careful handling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Correlation Analysis: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Overtime, Job Satisfaction, and Years at Company were top predictors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Categorical Features: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Department, Job Role, and Business Travel showed meaningful distribution patterns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Missing Values</a:t>
            </a: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original dataset — clean and well-structured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0971"/>
            <a:ext cx="1051471" cy="158055"/>
          </a:xfrm>
          <a:prstGeom prst="roundRect">
            <a:avLst>
              <a:gd name="adj" fmla="val 22132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58552" y="422151"/>
            <a:ext cx="1383804" cy="95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PREPROCESSING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79537"/>
            <a:ext cx="8151763" cy="341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Preparing the Data for Modeling</a:t>
            </a:r>
            <a:endParaRPr lang="en-US" sz="2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1035844"/>
            <a:ext cx="8084567" cy="3486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714" y="3855218"/>
            <a:ext cx="1925806" cy="24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Train-Test Split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73714" y="3048213"/>
            <a:ext cx="1925806" cy="24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Standard Scale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3714" y="2249360"/>
            <a:ext cx="1925806" cy="24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One-Hot Encode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73714" y="1442356"/>
            <a:ext cx="1925806" cy="240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Drop Columns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96119" y="4608016"/>
            <a:ext cx="8608963" cy="144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clean, consistent preprocessing pipeline ensures all three models are trained on identical, well-structured input data — enabling fair and reproducible comparison.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6738"/>
            <a:ext cx="1806401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609228"/>
            <a:ext cx="209349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 LEARNING MODELS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38795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Three Models, One Dataset</a:t>
            </a:r>
            <a:endParaRPr lang="en-US" sz="2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16559"/>
            <a:ext cx="1507480" cy="9316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625403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96119" y="294300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probabilistic classifier. Interpretable, efficient, and well-suited for binary classification tasks.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433" y="1516559"/>
            <a:ext cx="1507480" cy="9316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625403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Random Forest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3272433" y="294300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Ensemble of decision trees. Robust to overfitting, handles non-linear relationships naturally.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8747" y="1516559"/>
            <a:ext cx="1507480" cy="9316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625403"/>
            <a:ext cx="2599134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XGBoost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048747" y="2943002"/>
            <a:ext cx="259913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boosting framework. High predictive power with regularization to control model complexity.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96119" y="3782913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CCEEFF"/>
          </a:solidFill>
          <a:ln/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77" y="3983682"/>
            <a:ext cx="177180" cy="14175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56816" y="3960093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three models were trained and evaluated on the </a:t>
            </a: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same preprocessed dataset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a fair, apples-to-apples comparison.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95412"/>
            <a:ext cx="1312218" cy="215354"/>
          </a:xfrm>
          <a:prstGeom prst="roundRect">
            <a:avLst>
              <a:gd name="adj" fmla="val 22119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1174" y="837902"/>
            <a:ext cx="1599307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EVALUATION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67470"/>
            <a:ext cx="8151763" cy="465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Performance Comparison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96119" y="1745233"/>
            <a:ext cx="8151763" cy="1649611"/>
          </a:xfrm>
          <a:prstGeom prst="roundRect">
            <a:avLst>
              <a:gd name="adj" fmla="val 3609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119" y="2158826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570038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298125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2789" y="1839813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85430" y="1839813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51015" y="1839813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16600" y="1839813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82185" y="1839813"/>
            <a:ext cx="1476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2789" y="2251025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 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85430" y="2251025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86.05%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51015" y="2251025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61.54%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600" y="2251025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34.04%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82185" y="2251025"/>
            <a:ext cx="1476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43.84%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2789" y="2662238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085430" y="2662238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83.33%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51015" y="2662238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41.67%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16600" y="2662238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10.64%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82185" y="2662238"/>
            <a:ext cx="1476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16.95%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2789" y="3073450"/>
            <a:ext cx="26163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XGBoost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85430" y="3073450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86.05%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51015" y="3073450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65.00%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16600" y="3073450"/>
            <a:ext cx="163926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27.66%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82185" y="3073450"/>
            <a:ext cx="14763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38.81%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6119" y="3554313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B6FCB8"/>
          </a:solidFill>
          <a:ln/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755082"/>
            <a:ext cx="177180" cy="141759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956816" y="3731493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Logistic Regression selected as the final model</a:t>
            </a: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it achieved the best overall balance across Accuracy, Precision, Recall, F1-Score, and ROC-AUC, with the added benefit of interpretability for HR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6180"/>
            <a:ext cx="912391" cy="208583"/>
          </a:xfrm>
          <a:prstGeom prst="roundRect">
            <a:avLst>
              <a:gd name="adj" fmla="val 22123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8495" y="437331"/>
            <a:ext cx="1204838" cy="126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657969"/>
            <a:ext cx="8151763" cy="450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Streamlit Web Application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393" y="2313310"/>
            <a:ext cx="1428750" cy="14287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71193" y="1441103"/>
            <a:ext cx="5181377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Application Features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1193" y="1816001"/>
            <a:ext cx="2524199" cy="154513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03737" y="1972345"/>
            <a:ext cx="2135312" cy="450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Employee Information Form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703737" y="2555825"/>
            <a:ext cx="213531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fields for age, department, job satisfaction, overtime, and more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8370" y="1816001"/>
            <a:ext cx="2524199" cy="15451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60914" y="1972345"/>
            <a:ext cx="213531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Real-Time Prediction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360914" y="2330574"/>
            <a:ext cx="2135312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attrition risk output powered by the Logistic Regression model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71193" y="3494112"/>
            <a:ext cx="2524199" cy="11035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03737" y="3650456"/>
            <a:ext cx="213531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Confidence Score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3703737" y="4008686"/>
            <a:ext cx="213531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prediction probability to support informed HR decisions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28370" y="3494112"/>
            <a:ext cx="2524199" cy="11035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60914" y="3650456"/>
            <a:ext cx="2135312" cy="225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HR Decision Support</a:t>
            </a:r>
            <a:endParaRPr lang="en-US" sz="1400" dirty="0"/>
          </a:p>
        </p:txBody>
      </p:sp>
      <p:sp>
        <p:nvSpPr>
          <p:cNvPr id="18" name="Text 11"/>
          <p:cNvSpPr/>
          <p:nvPr/>
        </p:nvSpPr>
        <p:spPr>
          <a:xfrm>
            <a:off x="6360914" y="4008686"/>
            <a:ext cx="2135312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tool for workforce planning and retention strategy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1470"/>
            <a:ext cx="1460153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007E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0533" y="488677"/>
            <a:ext cx="176852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007EB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&amp; FUTURE SCOPE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683419"/>
            <a:ext cx="8151763" cy="407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What We Built &amp; What's Next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96119" y="1361703"/>
            <a:ext cx="3924598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Project Results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96119" y="1696789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667" y="1737047"/>
            <a:ext cx="35370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End-to-end ML pipeline from raw data to deployed model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2192908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3667" y="2233166"/>
            <a:ext cx="35370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Streamlit web application for real-time prediction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2689027"/>
            <a:ext cx="279053" cy="279053"/>
          </a:xfrm>
          <a:prstGeom prst="roundRect">
            <a:avLst>
              <a:gd name="adj" fmla="val 1867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667" y="2729285"/>
            <a:ext cx="3537049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model achieving </a:t>
            </a: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86.05% accuracy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28046" y="1361703"/>
            <a:ext cx="3924598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🔭</a:t>
            </a:r>
            <a:r>
              <a:rPr lang="en-US" sz="1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 Future Scope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728046" y="1696789"/>
            <a:ext cx="1908051" cy="1145084"/>
          </a:xfrm>
          <a:prstGeom prst="roundRect">
            <a:avLst>
              <a:gd name="adj" fmla="val 455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6783" y="1825526"/>
            <a:ext cx="165057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SMOTE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56783" y="2137544"/>
            <a:ext cx="165057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class imbalance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744593" y="1696789"/>
            <a:ext cx="1908051" cy="1145084"/>
          </a:xfrm>
          <a:prstGeom prst="roundRect">
            <a:avLst>
              <a:gd name="adj" fmla="val 4550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73329" y="1825526"/>
            <a:ext cx="1650578" cy="407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Hyperparameter Tuning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73329" y="2341066"/>
            <a:ext cx="1650578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 model performance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28046" y="2950369"/>
            <a:ext cx="1908051" cy="755526"/>
          </a:xfrm>
          <a:prstGeom prst="roundRect">
            <a:avLst>
              <a:gd name="adj" fmla="val 6896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56783" y="3079105"/>
            <a:ext cx="165057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Cross-Validation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56783" y="3391123"/>
            <a:ext cx="165057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 generalization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44593" y="2950369"/>
            <a:ext cx="1908051" cy="755526"/>
          </a:xfrm>
          <a:prstGeom prst="roundRect">
            <a:avLst>
              <a:gd name="adj" fmla="val 6896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3329" y="3079105"/>
            <a:ext cx="1650578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SHAP Explainability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873329" y="3391123"/>
            <a:ext cx="1650578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 feature importance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28046" y="3814390"/>
            <a:ext cx="3924598" cy="755526"/>
          </a:xfrm>
          <a:prstGeom prst="roundRect">
            <a:avLst>
              <a:gd name="adj" fmla="val 6896"/>
            </a:avLst>
          </a:prstGeom>
          <a:solidFill>
            <a:srgbClr val="CCEEFF"/>
          </a:solidFill>
          <a:ln w="4763">
            <a:solidFill>
              <a:srgbClr val="B2D4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6783" y="3943127"/>
            <a:ext cx="3667125" cy="2035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Cloud Deployment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856783" y="4255145"/>
            <a:ext cx="3667125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for production use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93055"/>
            <a:ext cx="727695" cy="168250"/>
          </a:xfrm>
          <a:prstGeom prst="roundRect">
            <a:avLst>
              <a:gd name="adj" fmla="val 22118"/>
            </a:avLst>
          </a:prstGeom>
          <a:solidFill>
            <a:srgbClr val="CCEEFF"/>
          </a:solidFill>
          <a:ln/>
        </p:spPr>
      </p:sp>
      <p:sp>
        <p:nvSpPr>
          <p:cNvPr id="3" name="Text 1"/>
          <p:cNvSpPr/>
          <p:nvPr/>
        </p:nvSpPr>
        <p:spPr>
          <a:xfrm>
            <a:off x="562570" y="426244"/>
            <a:ext cx="1051992" cy="101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496119" y="595908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Summary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89050"/>
            <a:ext cx="4032647" cy="1116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45953" y="1172096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21134" y="1531962"/>
            <a:ext cx="378261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Addressed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21134" y="1765474"/>
            <a:ext cx="378261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an ML system to predict employee attrition using the IBM HR Analytics dataset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5235" y="1089050"/>
            <a:ext cx="4032647" cy="11169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65069" y="1172096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740250" y="1531962"/>
            <a:ext cx="378261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Best Model Selected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740250" y="1765474"/>
            <a:ext cx="378261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 Regression achieved </a:t>
            </a: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86.05% accuracy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the best balance across all evaluation metrics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92474"/>
            <a:ext cx="4032647" cy="11169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445953" y="2375520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621134" y="2735387"/>
            <a:ext cx="378261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Real-World Deployment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1134" y="2968898"/>
            <a:ext cx="378261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Delivered an interactive Streamlit application enabling real-time, explainable HR predictions</a:t>
            </a:r>
            <a:endParaRPr lang="en-US" sz="8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5235" y="2292474"/>
            <a:ext cx="4032647" cy="11169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65069" y="2375520"/>
            <a:ext cx="13290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4740250" y="2735387"/>
            <a:ext cx="3782616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Scalable Foundation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40250" y="2968898"/>
            <a:ext cx="3782616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Established a reproducible pipeline ready for SMOTE, SHAP, and cloud deployment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496119" y="3534445"/>
            <a:ext cx="8151763" cy="14288"/>
          </a:xfrm>
          <a:prstGeom prst="roundRect">
            <a:avLst>
              <a:gd name="adj" fmla="val 59998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22" name="Text 16"/>
          <p:cNvSpPr/>
          <p:nvPr/>
        </p:nvSpPr>
        <p:spPr>
          <a:xfrm>
            <a:off x="496119" y="3706192"/>
            <a:ext cx="8151763" cy="501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Thank You</a:t>
            </a:r>
            <a:endParaRPr lang="en-US" sz="3150" dirty="0"/>
          </a:p>
        </p:txBody>
      </p:sp>
      <p:sp>
        <p:nvSpPr>
          <p:cNvPr id="23" name="Text 17"/>
          <p:cNvSpPr/>
          <p:nvPr/>
        </p:nvSpPr>
        <p:spPr>
          <a:xfrm>
            <a:off x="496119" y="4337521"/>
            <a:ext cx="8151763" cy="412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9000"/>
              </a:lnSpc>
              <a:spcAft>
                <a:spcPts val="750"/>
              </a:spcAft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Questions?</a:t>
            </a:r>
            <a:endParaRPr lang="en-US" sz="850" dirty="0"/>
          </a:p>
          <a:p>
            <a:pPr marL="0" indent="0" algn="l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Aditya Verma</a:t>
            </a: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B.Tech CSE (AI &amp; ML) · IIHMF, MNNIT Prayagraj · Summer 2026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627</Words>
  <Application>Microsoft Office PowerPoint</Application>
  <PresentationFormat>On-screen Show (16:9)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Arial</vt:lpstr>
      <vt:lpstr>Inter</vt:lpstr>
      <vt:lpstr>Petrona 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Aditya Verma</cp:lastModifiedBy>
  <cp:revision>2</cp:revision>
  <dcterms:created xsi:type="dcterms:W3CDTF">2026-07-13T20:14:49Z</dcterms:created>
  <dcterms:modified xsi:type="dcterms:W3CDTF">2026-07-13T20:19:57Z</dcterms:modified>
</cp:coreProperties>
</file>